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2" r:id="rId13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PointNeXt 坐标量化敏感度分析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DD7EE"/>
                </a:solidFill>
              </a:defRPr>
            </a:pPr>
            <a:r>
              <a:t>INT8 推理加速器  ·  坐标精度该用几 bit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DC3E6"/>
                </a:solidFill>
              </a:defRPr>
            </a:pPr>
            <a:r>
              <a:t>S3DIS  ·  PointNeXt-S  ·  方案A (推理时 fake-quant, 不重训练)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背景：坐标在 PointNeXt 里的用途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INT8 加速器只量化特征 (feature) 走 systolic array；坐标 (xyz) 单独成一条几何通路。</a:t>
            </a:r>
          </a:p>
          <a:p>
            <a:pPr>
              <a:spcAft>
                <a:spcPts val="600"/>
              </a:spcAft>
              <a:defRPr sz="1700">
                <a:solidFill>
                  <a:srgbClr val="1F497D"/>
                </a:solidFill>
              </a:defRPr>
            </a:pPr>
            <a:r>
              <a:t>问题：几何通路的坐标，能不能也降到低位宽定点，省硬件？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坐标在网络中被用于 4 个地方：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Encoder — 采样 (FPS/KD-tree)：决定保留哪些点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Encoder — ball_query (bq)：决定每个点的 32 个邻居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Encoder — dp 相对位置：p_j - p_center，作为 +3 通道喂 Conv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Decoder — three_interpolation：3-NN 反距离插值上采样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0" y="4023360"/>
          <a:ext cx="9784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029200"/>
                <a:gridCol w="237744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坐标用途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用来做什么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输出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采样 sample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选哪些点保留 (下采样)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点的索引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ball_query (bq)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算距离选邻居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邻居索引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dp 相对位置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算 p_j - p_center 当几何特征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数值 -&gt; 喂 Conv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decoder 插值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3-NN 反距离加权上采样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插值特征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第一步：全网络坐标量化 -&gt; 掉 4 个点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把整个网络的坐标统一 fake-quant 到 n-bit，测试时直接评估 (不重训练)。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01168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64592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坐标精度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test mIoU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相对 FP32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int8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57.73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-4.00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int7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53.29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-8.44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int6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34.12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-27.61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int5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14.79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-46.94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int4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6.57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-55.16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21945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497D"/>
                </a:solidFill>
              </a:defRPr>
            </a:pPr>
            <a:r>
              <a:t>结论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int8 就掉 4 个点，断崖在 int7-&gt;int6。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但这是「全网络」量化 — 分不清是哪个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环节引起的。</a:t>
            </a:r>
          </a:p>
          <a:p>
            <a:pPr>
              <a:spcAft>
                <a:spcPts val="600"/>
              </a:spcAft>
              <a:defRPr sz="1700">
                <a:solidFill>
                  <a:srgbClr val="C05000"/>
                </a:solidFill>
              </a:defRPr>
            </a:pPr>
            <a:r>
              <a:t>-&gt; 需要逐环节隔离。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第二步：Decoder 隔离 -&gt; 插值用 int8 几乎免费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只量化 decoder three_interpolation 的坐标，encoder 全程保持 FP32。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0" y="2011680"/>
          <a:ext cx="9784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1737360"/>
                <a:gridCol w="18288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配置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mIoU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相对 FP32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fp32 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decoder 全 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decoder int8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选邻居+权重都 int8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61.66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-0.07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A: 只 id 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选邻居 int8 / 权重 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61.69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B: 只权重 int8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选邻居 FP32 / 权重 int8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61.73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int12/int16/FP16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更高精度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9377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497D"/>
                </a:solidFill>
              </a:defRPr>
            </a:pPr>
            <a:r>
              <a:t>结论：decoder 插值对坐标精度极不敏感 — int8 只掉 0.07 mIoU，基本免费。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插值权重是反距离的平滑函数，坐标小误差 -&gt; 权重小误差 -&gt; 加权平均几乎不变。</a:t>
            </a:r>
          </a:p>
          <a:p>
            <a:pPr>
              <a:spcAft>
                <a:spcPts val="600"/>
              </a:spcAft>
              <a:defRPr sz="1600">
                <a:solidFill>
                  <a:srgbClr val="C05000"/>
                </a:solidFill>
              </a:defRPr>
            </a:pPr>
            <a:r>
              <a:t>-&gt; 那 4 个点的掉点不在 decoder。真凶在 encoder。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第三步：Encoder 三路隔离 -&gt; 超加性效应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6583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51560"/>
                <a:gridCol w="1005840"/>
                <a:gridCol w="1005840"/>
                <a:gridCol w="105156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bq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dp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mIoU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掉点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enc_fp32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enc_all8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int8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int8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int8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57.78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-3.95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enc_sample8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int8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61.74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+0.01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enc_bq8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int8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61.01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-0.72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enc_dp8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60.64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-1.09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46304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497D"/>
                </a:solidFill>
              </a:defRPr>
            </a:pPr>
            <a:r>
              <a:t>超加性 (super-additive)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sample 单独 :  -0.01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bq 单独     :  -0.72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dp 单独     :  -1.09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三者之和    :  约 -1.8</a:t>
            </a:r>
          </a:p>
          <a:p>
            <a:pPr lvl="1">
              <a:spcAft>
                <a:spcPts val="600"/>
              </a:spcAft>
              <a:defRPr sz="1300">
                <a:solidFill>
                  <a:srgbClr val="C00000"/>
                </a:solidFill>
              </a:defRPr>
            </a:pPr>
            <a:r>
              <a:t>但 all8 实测 :  -3.95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497D"/>
                </a:solidFill>
              </a:defRPr>
            </a:pPr>
            <a:r>
              <a:t>关键发现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1) 采样坐标 int8 完全免费 (+0.01) — FPS/KD-tree 单元可放心用 int8。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2) bq 和 dp 单独量化各掉 ~1 点；同时量化掉 ~4 点。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交互项 = 3.95 - 1.8 = 2.1，比任何单项都大。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3) bq 选错邻居 + dp 算错位置 -&gt; 几何特征双重失真，跨 4 个 stage 累积放大。</a:t>
            </a:r>
          </a:p>
          <a:p>
            <a:pPr>
              <a:spcAft>
                <a:spcPts val="600"/>
              </a:spcAft>
              <a:defRPr sz="1500">
                <a:solidFill>
                  <a:srgbClr val="C05000"/>
                </a:solidFill>
              </a:defRPr>
            </a:pPr>
            <a:r>
              <a:t>-&gt; 不能只修一个：bq 和 dp 必须一起保高精度。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第四步：完整 4x4 网格 -&gt; 只要任一路 &gt;=9bit 即恢复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采样固定 int8，完整覆盖 bq x dp 的 8/9/10/12 共 16 种组合，规律铁证。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58521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43000"/>
                <a:gridCol w="1143000"/>
                <a:gridCol w="1143000"/>
                <a:gridCol w="114300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bq＼dp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8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57.78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60.96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61.10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60.97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9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60.52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61.76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61.86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61.73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10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60.52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61.77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61.87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61.74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12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60.58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61.79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61.88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61.76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66344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08080"/>
                </a:solidFill>
              </a:defRPr>
            </a:pPr>
            <a:r>
              <a:t>test mIoU,  FP32 基准 = 61.73</a:t>
            </a:r>
          </a:p>
          <a:p>
            <a:pPr>
              <a:spcAft>
                <a:spcPts val="600"/>
              </a:spcAft>
              <a:defRPr sz="1200">
                <a:solidFill>
                  <a:srgbClr val="808080"/>
                </a:solidFill>
              </a:defRPr>
            </a:pPr>
            <a:r>
              <a:t>🟥 两路都 int8 = 灾难  🟨 任一路 int8 = 单路惩罚</a:t>
            </a:r>
          </a:p>
          <a:p>
            <a:pPr>
              <a:spcAft>
                <a:spcPts val="600"/>
              </a:spcAft>
              <a:defRPr sz="1200">
                <a:solidFill>
                  <a:srgbClr val="808080"/>
                </a:solidFill>
              </a:defRPr>
            </a:pPr>
            <a:r>
              <a:t>🟩 两路都 &gt;=9bit = 完全恢复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497D"/>
                </a:solidFill>
              </a:defRPr>
            </a:pPr>
            <a:r>
              <a:t>关键发现 (16 格全跑完)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🔴 唯一灾难点 (8,8) = 57.78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🟡 dp=8 整列 60.52-60.58 (单路 -1.2)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🟡 bq=8 整行 60.96-61.10 (单路 -0.7)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🟢 内 3x3 共 9 格 = 61.73-61.88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噪声仅 ~0.15，完全恢复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整个悬崖只在 8-&gt;9 一个 bit。</a:t>
            </a:r>
          </a:p>
          <a:p>
            <a:pPr>
              <a:spcAft>
                <a:spcPts val="600"/>
              </a:spcAft>
              <a:defRPr sz="1400">
                <a:solidFill>
                  <a:srgbClr val="C05000"/>
                </a:solidFill>
              </a:defRPr>
            </a:pPr>
            <a:r>
              <a:t>任一路 &gt;=9bit，-2 的交互项立刻消失。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补充实验：dp post-normalize 量化扫描 -&gt; 5-bit 就够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控制变量：源坐标全 FP32，只把 /radius 之后的 dp_norm ∈ [-1,+1] 量化到 N bit。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直接验证硬件 (S=1/2^(N-1), Z=2^(N-1)) 那一步是否引入精度损失。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77440"/>
          <a:ext cx="5852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4630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nbits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levels in [-1,+1]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mIoU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vs FP32 (61.73)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8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256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61.74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+0.01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64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61.81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+0.08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5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32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61.73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0.00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4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61.45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-0.28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8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60.33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-1.40</a:t>
                      </a:r>
                    </a:p>
                  </a:txBody>
                  <a:tcPr anchor="ctr">
                    <a:solidFill>
                      <a:srgbClr val="FFE5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4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55.13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-6.60</a:t>
                      </a:r>
                    </a:p>
                  </a:txBody>
                  <a:tcPr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497D"/>
                </a:solidFill>
              </a:defRPr>
            </a:pPr>
            <a:r>
              <a:t>决定性结论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post=8 (uint8) ≈ 基准 -&gt; /radius + post-quant 完全免费。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post=5 (32 级) 仍完全无损 -&gt; 硬件其实可以更激进。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门槛在 4-&gt;3 bit (16-&gt;8 级)，post=2 才灾难。</a:t>
            </a:r>
          </a:p>
          <a:p>
            <a:pPr>
              <a:spcAft>
                <a:spcPts val="600"/>
              </a:spcAft>
              <a:defRPr sz="1400">
                <a:solidFill>
                  <a:srgbClr val="C05000"/>
                </a:solidFill>
              </a:defRPr>
            </a:pPr>
            <a:r>
              <a:t>→ 假说 A 锁定：之前 (8,8) 的 -3.95 灾难</a:t>
            </a:r>
          </a:p>
          <a:p>
            <a:pPr lvl="1">
              <a:spcAft>
                <a:spcPts val="600"/>
              </a:spcAft>
              <a:defRPr sz="1200">
                <a:solidFill>
                  <a:srgbClr val="C05000"/>
                </a:solidFill>
              </a:defRPr>
            </a:pPr>
            <a:r>
              <a:t>    完全是源坐标 4cm 步长 / voxel 碰撞造成。</a:t>
            </a:r>
          </a:p>
          <a:p>
            <a:pPr>
              <a:spcAft>
                <a:spcPts val="600"/>
              </a:spcAft>
              <a:defRPr sz="1400">
                <a:solidFill>
                  <a:srgbClr val="C05000"/>
                </a:solidFill>
              </a:defRPr>
            </a:pPr>
            <a:r>
              <a:t>→ 硬件用 uint8 (1/128, 128) 是过度安全；</a:t>
            </a:r>
          </a:p>
          <a:p>
            <a:pPr lvl="1">
              <a:spcAft>
                <a:spcPts val="600"/>
              </a:spcAft>
              <a:defRPr sz="1200">
                <a:solidFill>
                  <a:srgbClr val="C05000"/>
                </a:solidFill>
              </a:defRPr>
            </a:pPr>
            <a:r>
              <a:t>    甚至 uint5 也免费，可省 3 bit 通道带宽。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结论：给硬件的坐标精度方案 (完整版)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63040"/>
          <a:ext cx="10149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108960"/>
                <a:gridCol w="320040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坐标用途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int8 掉点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最小可用精度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Decoder 插值 (源坐标)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int8 免费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采样 (源坐标)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-0.01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int8 免费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ball_query (源坐标)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-0.72 (单独)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&gt;= 9-bit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dp 源坐标精度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-1.09 (单独)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&gt;= 9-bit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Encoder bq + dp 同时 (源)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-3.95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两路都 &gt;= 9-bit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dp post-normalize quant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0.00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uint5 已够, uint8 过度安全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3891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497D"/>
                </a:solidFill>
              </a:defRPr>
            </a:pPr>
            <a:r>
              <a:t>最终硬件建议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源坐标统一用 9-10 bit 定点 (int8 触发碰撞灾难，int9 完全恢复，int10 留余量)。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dp post-normalize quant 用 uint8 (S=1/128, Z=128) 即可；想省带宽可降到 uint5。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两个量化点解耦：源坐标精度决定 dp 真值准不准，post-normalize quant 只决定网格疏密。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不需要 FP16、不需要 topK refine、不需要混合精度 — 简单定点几何单元覆盖全网络。</a:t>
            </a:r>
          </a:p>
          <a:p>
            <a:pPr>
              <a:spcAft>
                <a:spcPts val="600"/>
              </a:spcAft>
              <a:defRPr sz="1500">
                <a:solidFill>
                  <a:srgbClr val="C05000"/>
                </a:solidFill>
              </a:defRPr>
            </a:pPr>
            <a:r>
              <a:t>方案A (不重训练) 结论 -&gt; 9-bit 定点是 drop-in 的，连 QAT 都省了。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97D"/>
                </a:solidFill>
              </a:defRPr>
            </a:pPr>
            <a:r>
              <a:t>Training-Free Validation: block FPS drops in with no accuracy loss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F497D"/>
                </a:solidFill>
              </a:defRPr>
            </a:pPr>
            <a:r>
              <a:t>Ablation ladder (global-FPS checkpoint, mode=test, no finetune)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44752"/>
          <a:ext cx="60350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280160"/>
                <a:gridCol w="1371600"/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mIoU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vs A0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global FPS (baseline)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62.98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—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A1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block FPS (leaf 1500)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63.03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+0.05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A2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 int8 sample coords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62.98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0.00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A3</a:t>
                      </a:r>
                    </a:p>
                  </a:txBody>
                  <a:tcPr anchor="ctr" marL="38100" marR="38100" marT="12700" marB="1270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 bq/dp int8 (naive)</a:t>
                      </a:r>
                    </a:p>
                  </a:txBody>
                  <a:tcPr anchor="ctr" marL="38100" marR="38100" marT="12700" marB="1270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60.16</a:t>
                      </a:r>
                    </a:p>
                  </a:txBody>
                  <a:tcPr anchor="ctr" marL="38100" marR="38100" marT="12700" marB="1270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−2.82</a:t>
                      </a:r>
                    </a:p>
                  </a:txBody>
                  <a:tcPr anchor="ctr" marL="38100" marR="38100" marT="12700" marB="12700">
                    <a:solidFill>
                      <a:srgbClr val="F4CCC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A3s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 bq/dp 9-bit (ours)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62.92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−0.06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70332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CAF50"/>
                </a:solidFill>
              </a:defRPr>
            </a:pPr>
            <a:r>
              <a:t>[Z]  block FPS retrain-free cost = +0.05  →  zero loss (slightly up)</a:t>
            </a:r>
          </a:p>
          <a:p>
            <a:pPr>
              <a:spcAft>
                <a:spcPts val="300"/>
              </a:spcAft>
              <a:defRPr sz="1200">
                <a:solidFill>
                  <a:srgbClr val="4CAF50"/>
                </a:solidFill>
              </a:defRPr>
            </a:pPr>
            <a:r>
              <a:t>[A]  full KDPoint config (block FPS + 9-bit coords) = −0.06  →  near-lossless</a:t>
            </a:r>
          </a:p>
          <a:p>
            <a:pPr>
              <a:spcAft>
                <a:spcPts val="300"/>
              </a:spcAft>
              <a:defRPr sz="1200">
                <a:solidFill>
                  <a:srgbClr val="D04A3B"/>
                </a:solidFill>
              </a:defRPr>
            </a:pPr>
            <a:r>
              <a:t>A3 naive all-int8 = −2.82  →  why the 9-bit sidecar is needed (counter-example)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143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F497D"/>
                </a:solidFill>
              </a:defRPr>
            </a:pPr>
            <a:r>
              <a:t>Leaf-size sweep (block FPS, retrain-free)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444752"/>
          <a:ext cx="5102352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leaf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256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512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1024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1500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3000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24000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mIoU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62.72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62.88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62.97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63.03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63.07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63.05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23317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Flat across 256 → 24000 (62.72–63.07, span 0.35).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No leaf triggers any drop → retrain-free property is</a:t>
            </a:r>
          </a:p>
          <a:p>
            <a:pPr lvl="1"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        independent of leaf tuning; hardware picks any size.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All ≥ baseline 62.98 except leaf=256 (−0.26, still noise).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703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F497D"/>
                </a:solidFill>
              </a:defRPr>
            </a:pPr>
            <a:r>
              <a:t>Takeaway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Three-way exactness now complete: exact KD partition + exact BQ/KNN</a:t>
            </a:r>
          </a:p>
          <a:p>
            <a:pPr lvl="1"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        + retrain-free block FPS ([Z]=+0.05). KDPoint needs NO retraining,</a:t>
            </a:r>
          </a:p>
          <a:p>
            <a:pPr lvl="1">
              <a:spcAft>
                <a:spcPts val="300"/>
              </a:spcAft>
              <a:defRPr sz="1200">
                <a:solidFill>
                  <a:srgbClr val="C05000"/>
                </a:solidFill>
              </a:defRPr>
            </a:pPr>
            <a:r>
              <a:t>        differentiating from FractalCloud's retrain-based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989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707070"/>
                </a:solidFill>
              </a:defRPr>
            </a:pPr>
            <a:r>
              <a:t>S3DIS Area-5 · PointNeXt-S · 100-epoch global-FPS checkpoint (val 61.93) · test = sliding-window + voting (≈ +1 over val). Coordinate-quant only; weight/activation INT8 PTQ stacks on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97D"/>
                </a:solidFill>
              </a:defRPr>
            </a:pPr>
            <a:r>
              <a:t>Block FPS retrain-free generalizes: 2 models x 3 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97D"/>
                </a:solidFill>
              </a:defRPr>
            </a:pPr>
            <a:r>
              <a:t>[Z] block FPS retrain-free cost (A0 global -&gt; A1 block)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05840"/>
                <a:gridCol w="1005840"/>
                <a:gridCol w="1097280"/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 x dataset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A0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A1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[Z]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 x S3DIS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62.98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63.03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+0.05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 x ModelNet40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92.10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91.90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-0.20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/>
                      <a:r>
                        <a:t>PointNeXt x ShapeNet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86.28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t>85.98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t>-0.30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S3DIS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60.42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60.33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-0.09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ModelNet40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91.09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90.60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-0.49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ShapeNet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86.28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85.60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-0.68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97D"/>
                </a:solidFill>
              </a:defRPr>
            </a:pPr>
            <a:r>
              <a:t>[A] full config (block FPS + 9-bit coords) + naive counter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37160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188720"/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 x dataset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A3-safe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naive int8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 x S3DIS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-0.06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60.16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 x ModelNet40</a:t>
                      </a:r>
                    </a:p>
                  </a:txBody>
                  <a:tcPr anchor="ctr" marL="38100" marR="381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-0.37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91.82</a:t>
                      </a:r>
                    </a:p>
                  </a:txBody>
                  <a:tcPr anchor="ctr" marL="38100" marR="38100" marT="12700" marB="12700">
                    <a:solidFill>
                      <a:srgbClr val="F2F2F2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t>PointNeXt x ShapeNet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-0.30 (leaf1024)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78.76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S3DIS</a:t>
                      </a:r>
                    </a:p>
                  </a:txBody>
                  <a:tcPr anchor="ctr" marL="38100" marR="381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-0.10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58.44</a:t>
                      </a:r>
                    </a:p>
                  </a:txBody>
                  <a:tcPr anchor="ctr" marL="38100" marR="38100" marT="12700" marB="12700">
                    <a:solidFill>
                      <a:srgbClr val="F2F2F2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ModelNet40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-0.33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90.80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ShapeNet</a:t>
                      </a:r>
                    </a:p>
                  </a:txBody>
                  <a:tcPr anchor="ctr" marL="38100" marR="381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-0.69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85.55</a:t>
                      </a:r>
                    </a:p>
                  </a:txBody>
                  <a:tcPr anchor="ctr" marL="38100" marR="38100" marT="12700" marB="127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02336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F497D"/>
                </a:solidFill>
              </a:defRPr>
            </a:pPr>
            <a:r>
              <a:t>Takeaway</a:t>
            </a:r>
          </a:p>
          <a:p>
            <a:pPr>
              <a:spcAft>
                <a:spcPts val="200"/>
              </a:spcAft>
              <a:defRPr sz="1300">
                <a:solidFill>
                  <a:srgbClr val="C6EFCE"/>
                </a:solidFill>
              </a:defRPr>
            </a:pPr>
            <a:r>
              <a:t>5/6 cells near-lossless retrain-free: -0.05 ~ -0.68 mIoU/OA.</a:t>
            </a:r>
          </a:p>
          <a:p>
            <a:pPr>
              <a:spcAft>
                <a:spcPts val="200"/>
              </a:spcAft>
              <a:defRPr sz="1300">
                <a:solidFill>
                  <a:srgbClr val="C05000"/>
                </a:solidFill>
              </a:defRPr>
            </a:pPr>
            <a:r>
              <a:t>* PointNeXt x ShapeNet: default leaf=128 hurts (-7.53); larger leaf recovers</a:t>
            </a:r>
          </a:p>
          <a:p>
            <a:pPr lvl="1">
              <a:spcAft>
                <a:spcPts val="200"/>
              </a:spcAft>
              <a:defRPr sz="1200">
                <a:solidFill>
                  <a:srgbClr val="C05000"/>
                </a:solidFill>
              </a:defRPr>
            </a:pPr>
            <a:r>
              <a:t>   (leaf=512 -&gt; -1.34, leaf=2048=global -&gt; 0). Leaf must scale to task; see next slide.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</a:defRPr>
            </a:pPr>
            <a:r>
              <a:t>Naive all-int8 coords always collapses (e.g. S3DIS -2~-3); 9-bit sidecar restores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43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707070"/>
                </a:solidFill>
              </a:defRPr>
            </a:pPr>
            <a:r>
              <a:t>S3DIS/ModelNet40/ShapeNet * PointNeXt-S / PointNet++ * test (seg/partseg=voting, cls=OA) * inference-time, no retraining.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97D"/>
                </a:solidFill>
              </a:defRPr>
            </a:pPr>
            <a:r>
              <a:t>INT8 PTQ near-lossless + ShapeNet leaf-size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4712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97D"/>
                </a:solidFill>
              </a:defRPr>
            </a:pPr>
            <a:r>
              <a:t>INT8 PTQ (weights+acts), stacked on block FPS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60120"/>
                <a:gridCol w="960120"/>
                <a:gridCol w="1005840"/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 x dataset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FP32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INT8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 x S3DIS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61.43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61.41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-0.02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 x ModelNet40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91.90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91.69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-0.20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 x ShapeNet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76.35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76.06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-0.30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S3DIS</a:t>
                      </a:r>
                    </a:p>
                  </a:txBody>
                  <a:tcPr anchor="ctr" marL="38100" marR="38100" marT="12700" marB="127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58.96</a:t>
                      </a:r>
                    </a:p>
                  </a:txBody>
                  <a:tcPr anchor="ctr" marL="38100" marR="38100" marT="12700" marB="127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57.51</a:t>
                      </a:r>
                    </a:p>
                  </a:txBody>
                  <a:tcPr anchor="ctr" marL="38100" marR="38100" marT="12700" marB="127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-1.45</a:t>
                      </a:r>
                    </a:p>
                  </a:txBody>
                  <a:tcPr anchor="ctr" marL="38100" marR="38100" marT="12700" marB="12700">
                    <a:solidFill>
                      <a:srgbClr val="FFE599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ModelNet40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90.60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90.56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-0.04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 x ShapeNet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84.17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83.32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-0.85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977639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C6EFCE"/>
                </a:solidFill>
              </a:defRPr>
            </a:pPr>
            <a:r>
              <a:t>All 6 cells &lt; 2% INT8 cost; PointNeXt all &lt;=-0.30.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PN++ x S3DIS -1.45 (largest; RGB feats + ConvPool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more quant-sensitive; calib 30-&gt;50 didn't change).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F497D"/>
                </a:solidFill>
              </a:defRPr>
            </a:pPr>
            <a:r>
              <a:t>ShapeNet leaf sweep (block FPS, retrain-free)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71600"/>
          <a:ext cx="555955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leaf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256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512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2048</a:t>
                      </a:r>
                    </a:p>
                  </a:txBody>
                  <a:tcPr anchor="ctr" marL="38100" marR="38100" marT="12700" marB="12700">
                    <a:solidFill>
                      <a:srgbClr val="1F497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PointNeXt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76.7</a:t>
                      </a:r>
                    </a:p>
                  </a:txBody>
                  <a:tcPr anchor="ctr" marL="38100" marR="38100" marT="12700" marB="1270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77.3</a:t>
                      </a:r>
                    </a:p>
                  </a:txBody>
                  <a:tcPr anchor="ctr" marL="38100" marR="38100" marT="12700" marB="1270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78.8</a:t>
                      </a:r>
                    </a:p>
                  </a:txBody>
                  <a:tcPr anchor="ctr" marL="38100" marR="38100" marT="12700" marB="1270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81.5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84.9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86.3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PointNet++</a:t>
                      </a:r>
                    </a:p>
                  </a:txBody>
                  <a:tcPr anchor="ctr" marL="38100" marR="381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85.1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85.4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85.6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85.8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86.1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86.3</a:t>
                      </a:r>
                    </a:p>
                  </a:txBody>
                  <a:tcPr anchor="ctr" marL="38100" marR="38100" marT="12700" marB="12700"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26517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PointNeXt x ShapeNet: monotonic in leaf -- small leaf</a:t>
            </a:r>
          </a:p>
          <a:p>
            <a:pPr lvl="1">
              <a:spcAft>
                <a:spcPts val="200"/>
              </a:spcAft>
              <a:defRPr sz="1100">
                <a:solidFill>
                  <a:srgbClr val="C05000"/>
                </a:solidFill>
              </a:defRPr>
            </a:pPr>
            <a:r>
              <a:t>   breaks fine part boundaries; leaf=2048(=global) full recovery.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PointNet++: flat (stride-4 aggressive downsample is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robust to block locality). Same dataset, opposite sensitivity.</a:t>
            </a:r>
          </a:p>
          <a:p>
            <a:pPr>
              <a:spcAft>
                <a:spcPts val="200"/>
              </a:spcAft>
              <a:defRPr sz="1200">
                <a:solidFill>
                  <a:srgbClr val="1F497D"/>
                </a:solidFill>
              </a:defRPr>
            </a:pPr>
            <a:r>
              <a:t>Lesson: leaf scales with task -- small-cloud part-seg on</a:t>
            </a:r>
          </a:p>
          <a:p>
            <a:pPr lvl="1">
              <a:spcAft>
                <a:spcPts val="200"/>
              </a:spcAft>
              <a:defRPr sz="1100">
                <a:solidFill>
                  <a:srgbClr val="1F497D"/>
                </a:solidFill>
              </a:defRPr>
            </a:pPr>
            <a:r>
              <a:t>   high-capacity PointNeXt needs large leaf; everything else is 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707070"/>
                </a:solidFill>
              </a:defRPr>
            </a:pPr>
            <a:r>
              <a:t>PTQ FP32 != ladder A0: PTQ uses single-pass validate on the block-FPS model; ladder uses test+voting on global FPS. delta is the quant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